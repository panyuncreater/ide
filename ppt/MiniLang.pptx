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[请填写姓名]。今天我将向各位老师汇报我的项目——MiniLang。这是一个旨在让编译原理这门抽象的课程“活”起来的三后端教学语言。它通过创新的架构设计和丰富的可视化工具，帮助学生直观地理解编译器的工作原理。接下来，我将详细介绍这个项目的核心创新和实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iniLang的核心创新主要体现在三个方面。首先，我们设计了一个三后端共享IR的统一架构，让学生能在同一个框架下对比不同虚拟机的优劣。其次，我们开发了一套完整的教学可视化工具链，将抽象的编译过程变得可操作、可观测。最后，我们引入了工业级的运行时系统，让学生接触真实的工程权衡。这些创新的背后，是我们严肃的工程保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全景图展示了MiniLang的整体架构。大家可以看到，左侧是统一的前端，负责生成AST。中间是核心的IR层，所有优化都在这里进行。最右侧是三个不同的后端，它们共享同一个IR层。这种设计使得我们可以在统一的框架下，清晰地对比不同执行策略的差异，这对于教学来说是非常有价值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一个后端是树遍历解释器。它的原理非常直观，就是直接遍历AST树来执行代码。这种方式最容易理解，也是我们教学的起点。同时，我们引入了工业级的NaN-boxing技术来统一值表示。尽管它简单，但已经支持了完整的语言特性。然而，它的性能瓶颈也很明显，每次节点访问都是一次虚函数调用，开销较大。这自然引出了我们的下一个问题：能否将这部分开销前置到编译期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性能问题，我们引入了第二个后端：编译成栈式字节码。这相当于将运行时的“思考”前置到了编译期。我们通过一个IR中间层进行5趟优化，显著提升了代码效率。工程上，我们实现了75条指令集，并通过全局槽位预扫描等技术优化了变量访问和闭包性能。但栈式VM的栈操作开销依然存在，这启发我们思考：能否有更激进的方案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第三个后端是寄存器式虚拟机。通过对比一个简单的加法运算可以看到，栈式VM需要7条指令和6次栈操作，而寄存器VM仅需6条指令且完全没有栈操作。这是通过在编译期完成线性扫描寄存器分配实现的。它与栈式VM共享同一IR层，再次证明了我们架构的优越性。那么，这三种后端的实际性能差异究竟如何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首先通过261个测试用例保证了三个后端的输出一致性。在此基础上，我们进行了性能评估。结果非常有趣：在递归密集的斐波那契测试中，栈式VM最快；而在算术密集的大循环中，寄存器VM表现最佳。这个结果生动地告诉学生，没有哪种架构是绝对最优的，技术选择必须权衡具体场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学生能在不同抽象层次理解程序，我们设计了两套调试器。一套是面向解释器的AST节点级调试器，帮助学生理解语言的高层语义。另一套是面向虚拟机的字节码级调试器，让学生能深入底层，观察栈和寄存器的变化。这两套工具互为补充，构成了完整的学习闭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所有可视化功能组织成21个交互面板，并按学习路径分为四大类：入门导览、编译前端、执行引擎和深入实战。每个面板都支持单步和回放，让学生可以亲手操作，观察编译的全过程。其中，最能体现项目深度的，是我们的内存可视化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内存管理是编译原理中最抽象的概念之一。通过内存可视化面板，我们将这个“黑盒”彻底打开。以这张图为例，它展示了一个字符串在内存中的8字节表示：高16位是类型标签，低48位是堆指针。学生可以实时观察到这种布局，直观理解值类型和引用类型的本质区别，极大地降低了学习门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iniLang绝非一个简单的原型。我们用严肃的工程实践来保障其质量。项目包含超过10万行代码，1700多个单元测试。我们构建了完善的测试金字塔和跨平台CI流水线，确保了代码的稳定性、可维护性和跨平台兼容性。这证明了MiniLang不仅是一个教学工具，也是一个高质量的软件工程实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驾驭这个超过10万行代码的复杂项目，我们采用了一系列工程方法。包括建立“项目记忆”机制来保证一致性，通过模块化拆分来降低风险，以及使用ADR来记录关键决策。需要强调的是，在这个过程中，AI是强大的执行工具，但核心的架构设计和工程体系，始终由我主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MiniLang项目已经成功构建了一个功能完整、工程质量高、教学价值显著的编译原理教学平台。未来，我们计划在性能、语言特性和教学实践三个方面继续深化，例如引入JIT编译，并将其应用于实际课程中。我们相信，MiniLang证明了编译原理的每一个抽象概念，都可以变得可操作、可观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我的汇报到此结束。感谢各位老师的聆听，欢迎大家提问。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svg"/><Relationship Id="rId8" Type="http://schemas.openxmlformats.org/officeDocument/2006/relationships/image" Target="../media/image28.png"/><Relationship Id="rId7" Type="http://schemas.openxmlformats.org/officeDocument/2006/relationships/image" Target="../media/image27.svg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7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41.svg"/><Relationship Id="rId12" Type="http://schemas.openxmlformats.org/officeDocument/2006/relationships/image" Target="../media/image40.png"/><Relationship Id="rId11" Type="http://schemas.openxmlformats.org/officeDocument/2006/relationships/image" Target="../media/image39.svg"/><Relationship Id="rId10" Type="http://schemas.openxmlformats.org/officeDocument/2006/relationships/image" Target="../media/image38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9.svg"/><Relationship Id="rId8" Type="http://schemas.openxmlformats.org/officeDocument/2006/relationships/image" Target="../media/image48.png"/><Relationship Id="rId7" Type="http://schemas.openxmlformats.org/officeDocument/2006/relationships/image" Target="../media/image47.svg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svg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svg"/><Relationship Id="rId4" Type="http://schemas.openxmlformats.org/officeDocument/2006/relationships/image" Target="../media/image52.png"/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0.svg"/><Relationship Id="rId11" Type="http://schemas.openxmlformats.org/officeDocument/2006/relationships/image" Target="../media/image59.png"/><Relationship Id="rId10" Type="http://schemas.openxmlformats.org/officeDocument/2006/relationships/image" Target="../media/image58.sv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8.svg"/><Relationship Id="rId8" Type="http://schemas.openxmlformats.org/officeDocument/2006/relationships/image" Target="../media/image67.png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76.svg"/><Relationship Id="rId16" Type="http://schemas.openxmlformats.org/officeDocument/2006/relationships/image" Target="../media/image75.png"/><Relationship Id="rId15" Type="http://schemas.openxmlformats.org/officeDocument/2006/relationships/image" Target="../media/image74.svg"/><Relationship Id="rId14" Type="http://schemas.openxmlformats.org/officeDocument/2006/relationships/image" Target="../media/image73.png"/><Relationship Id="rId13" Type="http://schemas.openxmlformats.org/officeDocument/2006/relationships/image" Target="../media/image72.svg"/><Relationship Id="rId12" Type="http://schemas.openxmlformats.org/officeDocument/2006/relationships/image" Target="../media/image71.png"/><Relationship Id="rId11" Type="http://schemas.openxmlformats.org/officeDocument/2006/relationships/image" Target="../media/image70.svg"/><Relationship Id="rId10" Type="http://schemas.openxmlformats.org/officeDocument/2006/relationships/image" Target="../media/image69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svg"/><Relationship Id="rId8" Type="http://schemas.openxmlformats.org/officeDocument/2006/relationships/image" Target="../media/image16.png"/><Relationship Id="rId7" Type="http://schemas.openxmlformats.org/officeDocument/2006/relationships/image" Target="../media/image82.svg"/><Relationship Id="rId6" Type="http://schemas.openxmlformats.org/officeDocument/2006/relationships/image" Target="../media/image81.png"/><Relationship Id="rId5" Type="http://schemas.openxmlformats.org/officeDocument/2006/relationships/image" Target="../media/image80.svg"/><Relationship Id="rId4" Type="http://schemas.openxmlformats.org/officeDocument/2006/relationships/image" Target="../media/image79.png"/><Relationship Id="rId3" Type="http://schemas.openxmlformats.org/officeDocument/2006/relationships/image" Target="../media/image78.svg"/><Relationship Id="rId2" Type="http://schemas.openxmlformats.org/officeDocument/2006/relationships/image" Target="../media/image77.png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88.svg"/><Relationship Id="rId14" Type="http://schemas.openxmlformats.org/officeDocument/2006/relationships/image" Target="../media/image87.png"/><Relationship Id="rId13" Type="http://schemas.openxmlformats.org/officeDocument/2006/relationships/image" Target="../media/image86.svg"/><Relationship Id="rId12" Type="http://schemas.openxmlformats.org/officeDocument/2006/relationships/image" Target="../media/image85.png"/><Relationship Id="rId11" Type="http://schemas.openxmlformats.org/officeDocument/2006/relationships/image" Target="../media/image84.svg"/><Relationship Id="rId10" Type="http://schemas.openxmlformats.org/officeDocument/2006/relationships/image" Target="../media/image83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1143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MiniLang：让编译原理课「活」起来的三后端教学语言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651000" y="4699000"/>
            <a:ext cx="889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905000" y="4927600"/>
            <a:ext cx="838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2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答辩人：[</a:t>
            </a:r>
            <a:r>
              <a:rPr lang="zh-CN" altLang="en-US" sz="2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潘贇吉</a:t>
            </a:r>
            <a:r>
              <a:rPr lang="en-US" sz="22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]　|　日期：2026年7月10日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endParaRPr lang="en-US" sz="1600" b="0" i="0" u="none" strike="noStrike">
              <a:solidFill>
                <a:srgbClr val="9CA3A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MiniLang 的三个核心创新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8796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415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统一架构：三后端共享IR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343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476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 `AstIRBuilder` 统一中间表示层，实现一份前端IR无缝对接树遍历解释器、栈式与寄存器式虚拟机，达成“一次生成，多端运行”的灵活架构。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教学价值：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让学生在同一框架下直观对比不同执行范式的差异，从原理层面理解虚拟机设计的权衡，告别抽象的理论死记。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879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18415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教学革新：可视化工具链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4572013" y="2343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572000" y="2476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核心组成：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集成21个交互式教学面板、AST节点与字节码双调试器，搭配趣味“Bug狩猎场”，打造全流程可观测的编译实验环境。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教学价值：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将抽象的编译过程转化为可交互的实践操作，推动学习模式从“被动记忆”向“主动探索”转变，大幅降低理解门槛。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1879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572500" y="1841500"/>
            <a:ext cx="273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工程落地：工业级运行时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4323">
            <a:off x="8191513" y="2343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8191500" y="2476500"/>
            <a:ext cx="3048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引入8字节NaN-boxing类型标签、侵入式引用计数、写时复制(CoW)及分代垃圾回收(GC)，复刻工业级语言的内存管理机制。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91500" y="3810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教学价值：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让学生接触真实的工程级设计权衡，理解性能优化、内存安全与实现复杂度之间的取舍，接轨行业实际开发标准。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3340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952500" y="5461000"/>
            <a:ext cx="1028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“这些创新并非空中楼阁，其背后是一套严肃、严谨的工程保障体系，不仅确保了教学平台的高可用性，更让学生在实践中接触到真实的工业级软件工程规范与设计思想。”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一张全景图：MiniLang 的编译与执行流程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7" b="77"/>
          <a:stretch>
            <a:fillRect/>
          </a:stretch>
        </p:blipFill>
        <p:spPr>
          <a:xfrm>
            <a:off x="762000" y="1778000"/>
            <a:ext cx="4826000" cy="2730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这张全景图直观呈现了 MiniLang 的模块化编译架构。从左侧的前端解析，到中间核心的 IR 优化层，再到右侧三种不同的后端执行策略，清晰展现了“前后端分离、核心共享”的设计精髓，为理解编译原理提供了可视化的参考模型。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096000" y="1778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9200" y="19812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6781800" y="1981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前端归一，IR 为核心枢纽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99200" y="23876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Lexer 与 Parser 生成抽象语法树 (AST)，经 AstIRBuilder 转化为类 SSA 形式的中间表示 (IR)。5 趟关键编译优化均在 IR 层统一完成，实现了前后端的彻底解耦。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3302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9200" y="35052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781800" y="3505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三端分岔，灵活适配执行策略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99200" y="39116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基于统一 IR 衍生出三种路径：树遍历解释器直接运行、栈式 VM 生成字节码、寄存器 VM 生成寄存器指令。这种设计便于对比不同策略的性能差异与实现复杂度。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096000" y="4826000"/>
            <a:ext cx="5588000" cy="1333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99200" y="50292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81800" y="5029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统一运行时，低冗余高扩展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99200" y="5435600"/>
            <a:ext cx="5029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所有后端最终对接同一套运行时系统，最大化代码复用。新增后端仅需实现 IR 到目标指令的转换，无需重复开发基础环境，极大提升了架构的可扩展性与维护性。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最简单的执行方式：树遍历解释器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224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核心遍历机制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采用深度优先策略遍历抽象语法树(AST)，为每个节点类型定义独立的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visit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方法。这种方式逻辑直观，实现极简，是理解语言执行模型与语义规则的最佳起点。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1905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0673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NaN-boxing 内存模型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413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将所有值统一压缩存储在8字节中：低48位承载小整数或指针，高16位作为类型标签。配合侵入式引用计数与写时复制(COW)技术，实现高效且零开销的内存管理。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051800" y="1651000"/>
            <a:ext cx="33782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5800" y="1905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12200" y="18796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完备的语言支持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05800" y="2413000"/>
            <a:ext cx="2870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麻雀虽小五脏俱全，完整支持交互式REPL、模块化导入导出、面向对象（类与继承）、try-catch异常捕获，以及闭包与词法作用域等现代高级语言核心特性。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895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1F293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500" y="53213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14500" y="5143500"/>
            <a:ext cx="952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虽然它运行稳定且易于理解，但每一次节点的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visit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本质上都是一次虚函数调用。当递归深度增加时，这种运行时的动态分发开销将变得不可忽视。这就引出了一个关键问题：我们能否将这些遍历和分发的开销，从运行时“预支”到编译阶段来解决？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把思考前置：编译成栈式字节码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AST 语法树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3500" y="1524000"/>
            <a:ext cx="254000" cy="254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921000" y="139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IR 构造器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1524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080000" y="139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ap="flat" cmpd="sng">
            <a:solidFill>
              <a:srgbClr val="10B981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5趟深度优化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21500" y="1524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239000" y="1397000"/>
            <a:ext cx="1778000" cy="5080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字节码后端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0500" y="1524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9398000" y="1397000"/>
            <a:ext cx="16510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12700" cap="flat" cmpd="sng">
            <a:solidFill>
              <a:srgbClr val="F59E0B">
                <a:alpha val="4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栈式字节码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2286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核心优化 Pass 流水线：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2667000"/>
            <a:ext cx="1968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🔧 常量折叠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857500" y="2667000"/>
            <a:ext cx="1968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🔄 拷贝传播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2667000"/>
            <a:ext cx="1968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🗑️ 死代码消除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048500" y="2667000"/>
            <a:ext cx="1968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♻️ 公因子提取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144000" y="2667000"/>
            <a:ext cx="1968500" cy="406400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🔁 循环展开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429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36195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333500" y="3594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IR 中间层：从“松散”到“规范”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52500" y="40386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AST 结构灵活但难以直接优化。引入类 SSA 形式的 IR 后，我们将复杂的控制流和变量赋值统一规范化，使得数据流分析成为可能，为后续的五趟优化奠定了坚实基础。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3429000"/>
            <a:ext cx="5270500" cy="1714500"/>
          </a:xfrm>
          <a:prstGeom prst="roundRect">
            <a:avLst>
              <a:gd name="adj" fmla="val 0"/>
            </a:avLst>
          </a:prstGeom>
          <a:solidFill>
            <a:srgbClr val="F3F4F6">
              <a:alpha val="75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3619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794500" y="35941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工程突破：性能与功能的平衡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0386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75 条 OpCode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覆盖全语言特性；通过全局槽位预扫描，将变量访问从哈希表查找优化为数组索引；借鉴 Lua 设计实现高效的 Upvalue 闭包，确保了闭包语义的正确性与高性能。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62000" y="5397500"/>
            <a:ext cx="107315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880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1460500" y="5562600"/>
            <a:ext cx="9779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思考延伸：栈式 VM 的 push/pop 操作存在固有开销，例如简单的</a:t>
            </a:r>
            <a:r>
              <a:rPr lang="en-US" sz="1400" b="1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1 + 2 * 3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就需 7 条指令。这促使我们思考：能否进一步将解释执行的开销再“前置”，探索更激进的编译方案？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更激进的答案：寄存器式虚拟机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65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Stack Bytecode (计算 1 + 2 * 3)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41400" y="2184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INT_CONST 0, 1 → 栈: [1]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INT_CONST 0, 2 → 栈: [1, 2]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INT_CONST 0, 3 → 栈: [1, 2, 3]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MULTIPLY → 栈: [1, 6] | ADD → [7]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581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7条指令 · 6次栈操作 (频繁内存IO)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1524000"/>
            <a:ext cx="5270500" cy="2667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Register Bytecode (计算 1 + 2 * 3)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095500"/>
            <a:ext cx="48895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38900" y="21844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LOAD R0, 1 // R0 = 1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LOAD R1, 2 // R1 = 2; LOAD R2, 3 // R2 = 3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MUL R3, R1, R2 // R3 = 6</a:t>
            </a:r>
            <a:b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ADD R4, R0, R3 // R4 = 7; PRINT R4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581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6条指令 · 0次栈操作 (直接寄存器读写)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57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4762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699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线性扫描寄存器分配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在编译期为虚拟变量静态分配物理寄存器，彻底消除运行时的栈操作开销，将内存访问效率最大化。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159500" y="4572000"/>
            <a:ext cx="5270500" cy="1079500"/>
          </a:xfrm>
          <a:prstGeom prst="roundRect">
            <a:avLst>
              <a:gd name="adj" fmla="val 0"/>
            </a:avLst>
          </a:prstGeom>
          <a:solidFill>
            <a:srgbClr val="1F2937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476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858000" y="4699000"/>
            <a:ext cx="4508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共享IR层架构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与栈式VM复用同一套中间表示层，完美诠释了“同一IR，多种后端”的模块化设计，降低维护成本。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762000" y="57785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1F293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952500" y="5880100"/>
            <a:ext cx="10414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“理论上的效率提升显而易见，但真实的性能差距究竟有多大？接下来，我们将用实测数据揭示这三种执行模式的性能鸿沟。”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让差异看得见：一致性与性能的双重验证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33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F293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498600"/>
            <a:ext cx="1028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“输入一段代码，三个后端必须同时跑出完全一致的结果，但性能可以各有千秋。这不仅是对语言实现的检验，更是对架构设计的深度审视。”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一致性：261道“考题”的考验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84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3175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111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全覆盖的测试矩阵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261个核心测试用例，覆盖算术运算、控制流、闭包机制、类继承、异常处理及模块加载，确保语义输出零偏差。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27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318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254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多层次的验证体系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从基础单元测试到模糊测试（Fuzzing），层层递进排查边界情况，构建坚不可摧的语言可靠性防线。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397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核心结论：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无论底层架构如何变化，代码的执行结果始终保持数学层面的严格一致，这是语言可信的基石。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413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性能实测：架构差异显真章</a:t>
            </a:r>
            <a:endParaRPr lang="en-US" sz="1100"/>
          </a:p>
        </p:txBody>
      </p:sp>
      <p:graphicFrame>
        <p:nvGraphicFramePr>
          <p:cNvPr id="15" name="Table 15"/>
          <p:cNvGraphicFramePr>
            <a:graphicFrameLocks noGrp="1"/>
          </p:cNvGraphicFramePr>
          <p:nvPr/>
        </p:nvGraphicFramePr>
        <p:xfrm>
          <a:off x="6223000" y="2984500"/>
          <a:ext cx="5143500" cy="1676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1206500"/>
                <a:gridCol w="1206500"/>
                <a:gridCol w="12065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树遍历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栈式VM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寄存器VM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2937">
                        <a:alpha val="1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斐波那契(24)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784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59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99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大循环(100K)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46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54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42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字符串拼接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B7280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4.4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3.5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3.5 ms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6" name="AutoShape 16"/>
          <p:cNvSpPr/>
          <p:nvPr/>
        </p:nvSpPr>
        <p:spPr>
          <a:xfrm>
            <a:off x="6223000" y="5397500"/>
            <a:ext cx="52070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12700" cap="flat" cmpd="sng">
            <a:solidFill>
              <a:srgbClr val="3B82F6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350000" y="5499100"/>
            <a:ext cx="495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💡 技术洞察：没有银弹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递归密集型场景选栈式VM，算术密集型选寄存器VM。技术选型的本质，是对“场景需求”与“架构特性”的精准匹配。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为什么需要两套调试器？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DebugController — AST 节点级调试器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921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895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面向解释器，调试至“根节点”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适配树遍历解释器后端，调试粒度深入到AST节点与表达式，精准定位语法层面的执行逻辑。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3848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完备的高级调试能力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支持断点设置、条件表达式触发，以及 Step In / Over / Out 等精细化流程控制操作。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953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927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理解“语义”的最佳窗口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帮助学生直观理解变量作用域、闭包捕获等抽象概念，从语法结构视角拆解程序执行。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778000"/>
            <a:ext cx="5207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VmStepper — 字节码级调试器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9291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2921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21500" y="28956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面向虚拟机，透视“指令流”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适配栈式与寄存器式虚拟机，深入到单条字节码指令级别，展现最底层的执行过程。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873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21500" y="3848100"/>
            <a:ext cx="4381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透明化的底层状态观测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实时查看调用栈帧、操作数栈变化及寄存器状态，单步追踪每一条指令的执行结果。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953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4927600"/>
            <a:ext cx="4381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理解“机制”的微观视角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让学生亲眼见证代码如何转化为机器指令，理解虚拟机的运行机制与性能开销的根源。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21个交互面板，按学习路径组织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MiniLang 的教学价值集中体现在配套的可视化 IDE 中，我们将晦涩的编译原理知识，拆解为</a:t>
            </a:r>
            <a:r>
              <a:rPr lang="en-US" sz="15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21个独立可交互的教学面板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，严格遵循学生的认知规律与学习路径进行系统化编排，让抽象的底层原理变得触手可及、直观可感。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730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33500" y="2730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入门导览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175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从环境搭建到基础语法，通过引导式交互帮助初学者快速上手，建立对编程语言的基础认知与直觉。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2730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64000" y="2730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编译前端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83000" y="3175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深度解析词法与语法分析过程，实时可视化AST生成与语义检查，直观理解代码如何被“翻译”。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2730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94500" y="2730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执行引擎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175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展示三大后端执行环境，内置调试器支持逐行追踪指令执行，清晰呈现代码运行的每一步状态。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953500" y="2540000"/>
            <a:ext cx="26035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2730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25000" y="27305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深入实战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3175000"/>
            <a:ext cx="222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探索闭包机制、内存模型与Bug狩猎场，通过真实的工程案例攻克进阶难点，掌握底层逻辑。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699000"/>
            <a:ext cx="10795000" cy="952500"/>
          </a:xfrm>
          <a:prstGeom prst="roundRect">
            <a:avLst>
              <a:gd name="adj" fmla="val 0"/>
            </a:avLst>
          </a:prstGeom>
          <a:solidFill>
            <a:srgbClr val="1F2937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508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1016000" y="4800600"/>
            <a:ext cx="10414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核心交互体验：可单步、可回放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—— 每个面板均为真实的沙盒执行环境，支持断点调试、步骤回退与状态回溯，让学生清晰观察每一步编译与执行的底层细节，彻底把“黑盒”变成“透明盒”。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842000"/>
            <a:ext cx="38100" cy="508000"/>
          </a:xfrm>
          <a:prstGeom prst="roundRect">
            <a:avLst>
              <a:gd name="adj" fmla="val 0"/>
            </a:avLst>
          </a:prstGeom>
          <a:solidFill>
            <a:srgbClr val="6366F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1016000" y="5842000"/>
            <a:ext cx="1054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“在所有这些精心设计的面板中，最能体现 MiniLang 教学深度与工程价值的，莫过于直观的内存可视化面板 —— 它将看不见的内存分配与数据变化，转化为清晰可感的动态视图。”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让最抽象的概念变得可见：NaN-boxing 内存布局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以字符串 `'hello'` 为例，解析 MiniLang 中 8 字节的内存编码逻辑，揭开底层类型系统的核心奥秘。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349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349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高 16 位：类型标签 (Type Tag)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存储 `PTR_TAG_BASE` 作为类型识别码，虚拟机通过检测这16位，可瞬间判定其为堆对象指针，实现零开销的动态类型判断。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59500" y="21590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2349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794500" y="2349500"/>
            <a:ext cx="4445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低 48 位：堆指针 (Heap Pointer)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13500" y="2794000"/>
            <a:ext cx="476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指向堆内存中实际存储区的“地址门牌号”，承载字符串的真实数据、长度及哈希等元信息，打通变量值与数据实体的关联。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10833" r="10833"/>
          <a:stretch>
            <a:fillRect/>
          </a:stretch>
        </p:blipFill>
        <p:spPr>
          <a:xfrm>
            <a:off x="762000" y="3746500"/>
            <a:ext cx="4064000" cy="1016000"/>
          </a:xfrm>
          <a:prstGeom prst="rect">
            <a:avLst/>
          </a:prstGeom>
          <a:noFill/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5016500" y="3746500"/>
            <a:ext cx="6540500" cy="10160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5143500" y="3911600"/>
            <a:ext cx="6286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可视化直观呈现：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上图展示了 8 字节内存的位级分布。通过颜色区分不同的位段，将原本不可见的二进制数据结构转化为直观的几何区块，帮助学习者建立“类型+地址”的空间直觉。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105400"/>
            <a:ext cx="279400" cy="279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333500" y="5105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零开销多态编码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952500" y="55118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在单个 8 字节内同时封装类型信息与地址指针，无需额外内存成本，极致利用每一位空间，是高性能语言实现的关键。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381500" y="4953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51054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953000" y="5105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所见即所得的调试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72000" y="55118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 MemoryModelPanel 中实时渲染内存布局变化，让抽象的“黑盒”内存状态转化为动态的可视化数据流，降低认知门槛。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001000" y="4953000"/>
            <a:ext cx="3429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D1D5DB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1500" y="51054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572500" y="5105400"/>
            <a:ext cx="2730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架构级的权衡思维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191500" y="55118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深入理解直接值与引用值的本质差异，洞察语言设计在运行时性能、内存开销与灵活性之间的工程取舍逻辑。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这不是原型：严肃的工程实践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4986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109K+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生产级代码行数沉淀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6" name="Connector 6"/>
          <p:cNvCxnSpPr/>
          <p:nvPr/>
        </p:nvCxnSpPr>
        <p:spPr>
          <a:xfrm rot="5323618">
            <a:off x="3143250" y="18669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3429000" y="14986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1700+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严苛单元测试用例覆盖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5323618">
            <a:off x="5810250" y="18669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6096000" y="14986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3大OS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Windows/macOS/Linux全兼容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10" name="Connector 10"/>
          <p:cNvCxnSpPr/>
          <p:nvPr/>
        </p:nvCxnSpPr>
        <p:spPr>
          <a:xfrm rot="5323618">
            <a:off x="8477250" y="18669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763000" y="14986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130+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规范化 GitHub 迭代提交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26035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952500" y="2730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🛡️ 纵深防御：分层测试体系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952500" y="3238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33655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97000" y="3302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单元测试基石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47个核心模块，2.7万行测试代码，确保逻辑零死角。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467100" y="3238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4100" y="33655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911600" y="3302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集成与模糊测试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多后端一致性校验，引入Fuzz测试主动发现潜在崩溃。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52500" y="4254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9500" y="4381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3970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底层健康审计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自动化检测内存泄漏、引用计数溢出等底层隐患。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3467100" y="4254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594100" y="43815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39116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端到端与工具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21个UI自动化场景覆盖，9款独立调试工具辅助开发。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159500" y="2603500"/>
            <a:ext cx="52705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350000" y="2730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⚙️ 铁壁铜墙：自动化 CI 流水线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350000" y="3238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365500"/>
            <a:ext cx="254000" cy="254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794500" y="3302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全平台编译构建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Windows(MSVC)、Ubuntu(GCC)、macOS(Clang) 并行编译。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864600" y="3238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991600" y="3365500"/>
            <a:ext cx="254000" cy="254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309100" y="3302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容器化与制品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自动构建Docker镜像，生成跨平台安装包(CPack)。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6350000" y="4254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4381500"/>
            <a:ext cx="254000" cy="254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67945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质量门禁与度量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自动生成代码覆盖率报告，未达标则阻断合流。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37"/>
          <p:cNvSpPr/>
          <p:nvPr/>
        </p:nvSpPr>
        <p:spPr>
          <a:xfrm>
            <a:off x="8864600" y="4254500"/>
            <a:ext cx="2438400" cy="952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91600" y="4381500"/>
            <a:ext cx="254000" cy="254000"/>
          </a:xfrm>
          <a:prstGeom prst="rect">
            <a:avLst/>
          </a:prstGeom>
        </p:spPr>
      </p:pic>
      <p:sp>
        <p:nvSpPr>
          <p:cNvPr id="39" name="AutoShape 39"/>
          <p:cNvSpPr/>
          <p:nvPr/>
        </p:nvSpPr>
        <p:spPr>
          <a:xfrm>
            <a:off x="9309100" y="4318000"/>
            <a:ext cx="1968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代码静态分析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Clang-Tidy深度扫描，强制统一代码风格规范。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762000" y="5651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F293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952500" y="57785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核心技术基座：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 Qt 6.8.3 LTS 现代化框架构建 • 严格遵循 C++17 标准 • 集成 CPack 实现一键式多格式打包 (ZIP / TGZ / macOS App) • 完美适配 MSVC 2022 / GCC 13 / Clang 16 编译器生态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用工程方法驾驭复杂项目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项目记忆与规则化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4566">
            <a:off x="952513" y="234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4765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建立“项目记忆”机制，将架构约束、命名规范等隐性知识沉淀为明确的书面规则，避免经验流失。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消除团队认知偏差，确保长期迭代中设计与实现的一致性，为大规模协作奠定基础。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06900" y="1651000"/>
            <a:ext cx="33782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5974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模块化任务拆分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14566">
            <a:off x="4597413" y="234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4597400" y="24765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遵循“Lexer→Parser→IR→VM→GUI”的技术链路拆分任务，完成即补全单测与文档。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任务边界清晰，大幅降低局部变更的风险，同时提升了系统的可回溯性与可维护性。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051800" y="1651000"/>
            <a:ext cx="33782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2423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架构决策记录 (ADR)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566">
            <a:off x="8242313" y="2343150"/>
            <a:ext cx="2997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242300" y="2476500"/>
            <a:ext cx="2997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实践：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针对关键技术选型，撰写ADR文档，详细记录决策背景、技术权衡与取舍的核心理由。</a:t>
            </a:r>
            <a:endParaRPr lang="en-US" sz="1100"/>
          </a:p>
          <a:p>
            <a:pPr marL="0" indent="0" algn="l">
              <a:lnSpc>
                <a:spcPct val="108000"/>
              </a:lnSpc>
              <a:spcBef>
                <a:spcPts val="800"/>
              </a:spcBef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效果：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让隐性决策显性化，为后续的系统演进、重构或新人接手提供完整的决策上下文支撑。</a:t>
            </a:r>
            <a:endParaRPr lang="en-US" sz="13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33500"/>
          </a:xfrm>
          <a:prstGeom prst="roundRect">
            <a:avLst>
              <a:gd name="adj" fmla="val 0"/>
            </a:avLst>
          </a:prstGeom>
          <a:solidFill>
            <a:srgbClr val="1F2937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143500"/>
            <a:ext cx="1016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这个项目中，AI是强大的执行工具，高效辅助代码生成、测试编写与文档优化；而核心的架构设计、一致性约束的建立，以及质量保障体系的搭建，始终由我主导决策与把控，确保系统沿着稳健、可扩展的方向演进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已完成的工作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22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193800" y="21844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完整的三后端教学语言IDE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实现树遍历解释器、栈式VM与寄存器VM，构建从源码解析到机器执行的完整可视化链路。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1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93800" y="30734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丰富的交互式教学工具链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集成21个可视化交互面板与两套调试器，让抽象的编译原理运行过程直观可见。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000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193800" y="39624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严苛的工程质量保障体系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覆盖1700+核心单元测试，配置自动化CI流水线，确保底层逻辑的严谨性与稳定性。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89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193800" y="4851400"/>
            <a:ext cx="4762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工业级内存管理与优化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引入NaN-boxing类型标签技术与写时复制(COW)机制，在教学场景中还原真实工程优化。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未来的工作规划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215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EFF6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3500" y="23495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94500" y="22225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性能跃升：JIT编译与热点分析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引入即时编译技术，对比解释执行与编译执行的性能差异；开发热点代码检测机制，为动态优化提供决策支持。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13500" y="36195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794500" y="34925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能力增强：类型系统与泛型支持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探索静态类型检查与类型推断机制，增加泛型编程支持，提升语言的表达力与工程适用性，适配更复杂的教学案例。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4699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AF5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13500" y="4889500"/>
            <a:ext cx="279400" cy="279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794500" y="4762500"/>
            <a:ext cx="4508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价值落地：高校合作与反馈迭代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推进MiniLang在高校编译原理课程中的实际落地，建立反馈闭环，持续优化平台功能与配套教学资源。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2000" y="6032500"/>
            <a:ext cx="10668000" cy="533400"/>
          </a:xfrm>
          <a:prstGeom prst="roundRect">
            <a:avLst>
              <a:gd name="adj" fmla="val 0"/>
            </a:avLst>
          </a:prstGeom>
          <a:solidFill>
            <a:srgbClr val="1F2937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89000" y="6121400"/>
            <a:ext cx="1041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“ MiniLang 证明了——编译原理的每一个抽象概念，都可以变得可操作、可观测。”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谢谢各位老师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191000" y="3937000"/>
            <a:ext cx="3810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2D3EE">
                  <a:alpha val="100000"/>
                </a:srgbClr>
              </a:gs>
              <a:gs pos="100000">
                <a:srgbClr val="A855F7">
                  <a:alpha val="100000"/>
                </a:srgbClr>
              </a:gs>
            </a:gsLst>
            <a:lin ang="0"/>
          </a:gradFill>
          <a:ln cap="flat" cmpd="sng">
            <a:gradFill rotWithShape="1">
              <a:gsLst>
                <a:gs pos="0">
                  <a:srgbClr val="09BAD4">
                    <a:alpha val="100000"/>
                  </a:srgbClr>
                </a:gs>
                <a:gs pos="100000">
                  <a:srgbClr val="8C36DE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欢迎提问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24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期待与您深入交流，共同探讨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5524</Words>
  <Application>WPS 演示</Application>
  <PresentationFormat/>
  <Paragraphs>322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Arial</vt:lpstr>
      <vt:lpstr>Noto Sans SC</vt:lpstr>
      <vt:lpstr>FFont-Family</vt:lpstr>
      <vt:lpstr>Consolas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千里黄云白日曛</cp:lastModifiedBy>
  <cp:revision>2</cp:revision>
  <dcterms:created xsi:type="dcterms:W3CDTF">2026-07-10T07:18:56Z</dcterms:created>
  <dcterms:modified xsi:type="dcterms:W3CDTF">2026-07-10T07:19:30Z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{"Label":"1","ContentProducer":"001191110102MACQD9K64010000","ProduceID":"7660781768119028694","ReservedCode1":"","ContentPropagator":"","PropagateID":"","ReservedCode2":""}</vt:lpwstr>
  </property>
  <property fmtid="{D5CDD505-2E9C-101B-9397-08002B2CF9AE}" pid="3" name="ICV">
    <vt:lpwstr>2E4D7A706C8F4091864BC681404FAFBD_12</vt:lpwstr>
  </property>
  <property fmtid="{D5CDD505-2E9C-101B-9397-08002B2CF9AE}" pid="4" name="KSOProductBuildVer">
    <vt:lpwstr>2052-12.1.0.26895</vt:lpwstr>
  </property>
</Properties>
</file>